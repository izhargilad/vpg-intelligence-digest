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V2.4 ENHANCEMENTS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VPG Intelligence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Redesign Mockups &amp; Enhancement Specifications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Reference for Claude Code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15568"/>
            <a:ext cx="5029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UI redesign — BU heatmap, actionable insights, industry drill-down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Feed — LIKE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1115568"/>
            <a:ext cx="50292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thumbs-up feedback button to improve signal quality over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2441448"/>
            <a:ext cx="502920" cy="228600"/>
          </a:xfrm>
          <a:prstGeom prst="rect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recs specific: cite signals, name companies, quantify evidence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33172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Scan / Email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2441448"/>
            <a:ext cx="5029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9496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collection from delivery. Run on demand, filter by BU/Industry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872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Fix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49040" y="3767328"/>
            <a:ext cx="5029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8872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fix 0-signal issue. API auth, collection pipeline, test button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65760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9496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Overhaul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955280" y="3767328"/>
            <a:ext cx="50292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9496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section. Named trends, sparklines, actionable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VPG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371600" cy="4686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502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850392"/>
            <a:ext cx="1371600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" y="850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197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Feed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" y="1545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" y="1892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Digest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" y="2587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" y="2935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" y="32826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" y="3630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" y="3977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"/>
            <a:ext cx="77724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521208"/>
            <a:ext cx="13716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521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BUs  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8960" y="521208"/>
            <a:ext cx="13716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521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Industries  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521208"/>
            <a:ext cx="118872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521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Month  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0" y="521208"/>
            <a:ext cx="64008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521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0" y="521208"/>
            <a:ext cx="640080" cy="256032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521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544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1234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656 signals across 9 business units — Last 30 days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54480" y="1508760"/>
            <a:ext cx="1920240" cy="594360"/>
          </a:xfrm>
          <a:prstGeom prst="rect">
            <a:avLst/>
          </a:prstGeom>
          <a:solidFill>
            <a:srgbClr val="1E4D8C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4592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Sensors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45920" y="1764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14884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10896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0" y="1508760"/>
            <a:ext cx="1920240" cy="594360"/>
          </a:xfrm>
          <a:prstGeom prst="rect">
            <a:avLst/>
          </a:prstGeom>
          <a:solidFill>
            <a:srgbClr val="4A7FC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490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Micro-Meas.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49040" y="1764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5196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1208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760720" y="1508760"/>
            <a:ext cx="1920240" cy="594360"/>
          </a:xfrm>
          <a:prstGeom prst="rect">
            <a:avLst/>
          </a:prstGeom>
          <a:solidFill>
            <a:srgbClr val="4A7FC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5216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Inst.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1764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508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554480" y="2194560"/>
            <a:ext cx="1920240" cy="594360"/>
          </a:xfrm>
          <a:prstGeom prst="rect">
            <a:avLst/>
          </a:prstGeom>
          <a:solidFill>
            <a:srgbClr val="D4E4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6459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Foil Resistors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4592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148840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08960" y="2240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0" y="2194560"/>
            <a:ext cx="1920240" cy="594360"/>
          </a:xfrm>
          <a:prstGeom prst="rect">
            <a:avLst/>
          </a:prstGeom>
          <a:solidFill>
            <a:srgbClr val="D4E4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74904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Weighing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4904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51960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12080" y="2240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760720" y="2194560"/>
            <a:ext cx="1920240" cy="594360"/>
          </a:xfrm>
          <a:prstGeom prst="rect">
            <a:avLst/>
          </a:prstGeom>
          <a:solidFill>
            <a:srgbClr val="8BB0D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85216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BLH Nobel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521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55080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15200" y="22402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554480" y="2880360"/>
            <a:ext cx="1920240" cy="594360"/>
          </a:xfrm>
          <a:prstGeom prst="rect">
            <a:avLst/>
          </a:prstGeom>
          <a:solidFill>
            <a:srgbClr val="D4E4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64592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KELK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64592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148840" y="3200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10896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657600" y="2880360"/>
            <a:ext cx="1920240" cy="594360"/>
          </a:xfrm>
          <a:prstGeom prst="rect">
            <a:avLst/>
          </a:prstGeom>
          <a:solidFill>
            <a:srgbClr val="D4E4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74904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Gleeble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74904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251960" y="3200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-5%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1208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760720" y="2880360"/>
            <a:ext cx="1920240" cy="594360"/>
          </a:xfrm>
          <a:prstGeom prst="rect">
            <a:avLst/>
          </a:prstGeom>
          <a:solidFill>
            <a:srgbClr val="D4E4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85216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852160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5080" y="3200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31520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1554480" y="3611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BU card to drill into that business unit's strategic briefing →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554480" y="38862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69164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691640" y="4160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05740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 launches crash test sensor line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937760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DTS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691640" y="44074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057400" y="4407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 expands 3rd manufacturing facility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937760" y="44074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691640" y="46542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057400" y="4654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stricter vehicle weight regulations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937760" y="4654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OBW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852160" y="388620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852160" y="388620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0" name="Text 88"/>
          <p:cNvSpPr/>
          <p:nvPr/>
        </p:nvSpPr>
        <p:spPr>
          <a:xfrm>
            <a:off x="603504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035040" y="4187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Robotics signals up 73% — 3 weeks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035040" y="4407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Kistler coordinated push (crash test)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035040" y="4626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Force Sensors: 114 sigs (all-time high)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— Executive Dashboard: All-BU Overview (NEW)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VPG INTELLIGENCE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9144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21208"/>
            <a:ext cx="14630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Sensors  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521208"/>
            <a:ext cx="137160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521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Industries  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521208"/>
            <a:ext cx="118872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521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Month  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05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FORCE SENSORS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signals  |  ↑32% vs prior month  |  Avg Score: 5.4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BREAKDOWN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65960"/>
            <a:ext cx="20116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Automation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signals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17373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542032"/>
            <a:ext cx="16459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Positive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68880" y="196596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196596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 &amp; Defense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 signals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2542032"/>
            <a:ext cx="17373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0" y="2542032"/>
            <a:ext cx="1133856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Neutral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63440" y="196596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6596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Devices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signals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542032"/>
            <a:ext cx="17373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2542032"/>
            <a:ext cx="80467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Neutral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858000" y="1965960"/>
            <a:ext cx="20116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1965960"/>
            <a:ext cx="2011680" cy="4572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signals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542032"/>
            <a:ext cx="173736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0" y="2542032"/>
            <a:ext cx="585216" cy="73152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Negative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3108960"/>
            <a:ext cx="4846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114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 (Score ≥ 7.0)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29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3429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 expands 3rd manufacturing facility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2960" y="358444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outreach to Figure AI procurement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11480" y="3767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" y="3767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seeking load cell alternatives to HBK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2960" y="3922776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Create comparison guide: VPG vs HBK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11480" y="4105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" y="4105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Saronic autonomous naval vessel sensor RFP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22960" y="426110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Contact Saronic engineering team this week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303520" y="3108960"/>
            <a:ext cx="35661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4068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MOVES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40680" y="3474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17920" y="3474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crash test sensor line launch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229600" y="3474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40680" y="3776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17920" y="3776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negative mentions on Reddit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0" y="37764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40680" y="4078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Zemic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17920" y="4078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reduction campaign in APAC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229600" y="40782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— Executive Dashboard: Single-BU Deep View (Force Sensors) (NEW)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VPG INTELLIGENCE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9144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21208"/>
            <a:ext cx="14630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Sensors  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0" y="521208"/>
            <a:ext cx="64008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521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46720" y="521208"/>
            <a:ext cx="640080" cy="256032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521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&amp; Strategic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MOVING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45920"/>
            <a:ext cx="27432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RISING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0" y="1709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 Robotics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10312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signals / 3 weeks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2585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AI, Agility, Boston Dynamics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23957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Signals →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645920"/>
            <a:ext cx="2743200" cy="36576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RISING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12080" y="1709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Weight Regulations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10312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signals / 4 weeks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0" y="22585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Commission, ACEA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91840" y="23957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Signals →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64592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709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NEW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138160" y="1709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Saronic Naval Systems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10312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signals / 1 week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7920" y="22585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Saronic Technologies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17920" y="23957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Signals →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4320" y="2697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MOMENTUM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944368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297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71600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Positive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" y="3200400"/>
            <a:ext cx="1828800" cy="137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" y="3291971"/>
            <a:ext cx="164592" cy="45589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2648" y="3268852"/>
            <a:ext cx="164592" cy="68708"/>
          </a:xfrm>
          <a:prstGeom prst="rect">
            <a:avLst/>
          </a:prstGeom>
          <a:solidFill>
            <a:srgbClr val="2E75B6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1248" y="3234550"/>
            <a:ext cx="164592" cy="10301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69848" y="3278534"/>
            <a:ext cx="164592" cy="59026"/>
          </a:xfrm>
          <a:prstGeom prst="rect">
            <a:avLst/>
          </a:prstGeom>
          <a:solidFill>
            <a:srgbClr val="2E75B6">
              <a:alpha val="5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98448" y="3303760"/>
            <a:ext cx="164592" cy="33800"/>
          </a:xfrm>
          <a:prstGeom prst="rect">
            <a:avLst/>
          </a:prstGeom>
          <a:solidFill>
            <a:srgbClr val="2E75B6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527048" y="3305474"/>
            <a:ext cx="164592" cy="32086"/>
          </a:xfrm>
          <a:prstGeom prst="rect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55648" y="3285821"/>
            <a:ext cx="164592" cy="51739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84248" y="3297395"/>
            <a:ext cx="164592" cy="40165"/>
          </a:xfrm>
          <a:prstGeom prst="rect">
            <a:avLst/>
          </a:prstGeom>
          <a:solidFill>
            <a:srgbClr val="2E75B6">
              <a:alpha val="3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sigs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0584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Opp:14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50876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Thr:6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468880" y="2944368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560320" y="297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566160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Neutral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560320" y="3200400"/>
            <a:ext cx="1828800" cy="137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7" name="Shape 55"/>
          <p:cNvSpPr/>
          <p:nvPr/>
        </p:nvSpPr>
        <p:spPr>
          <a:xfrm>
            <a:off x="2578608" y="3224451"/>
            <a:ext cx="164592" cy="113109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807208" y="3233341"/>
            <a:ext cx="164592" cy="104219"/>
          </a:xfrm>
          <a:prstGeom prst="rect">
            <a:avLst/>
          </a:prstGeom>
          <a:solidFill>
            <a:srgbClr val="2E75B6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035808" y="3279723"/>
            <a:ext cx="164592" cy="57837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3264408" y="3219860"/>
            <a:ext cx="164592" cy="117700"/>
          </a:xfrm>
          <a:prstGeom prst="rect">
            <a:avLst/>
          </a:prstGeom>
          <a:solidFill>
            <a:srgbClr val="2E75B6">
              <a:alpha val="5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493008" y="3259271"/>
            <a:ext cx="164592" cy="78289"/>
          </a:xfrm>
          <a:prstGeom prst="rect">
            <a:avLst/>
          </a:prstGeom>
          <a:solidFill>
            <a:srgbClr val="2E75B6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721608" y="3275710"/>
            <a:ext cx="164592" cy="61850"/>
          </a:xfrm>
          <a:prstGeom prst="rect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950208" y="3227265"/>
            <a:ext cx="164592" cy="110295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178808" y="3241478"/>
            <a:ext cx="164592" cy="96082"/>
          </a:xfrm>
          <a:prstGeom prst="rect">
            <a:avLst/>
          </a:prstGeom>
          <a:solidFill>
            <a:srgbClr val="2E75B6">
              <a:alpha val="3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560320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sigs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0040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Opp:10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70332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Thr:8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663440" y="2944368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754880" y="297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60720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Neutral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754880" y="3200400"/>
            <a:ext cx="1828800" cy="137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2" name="Shape 70"/>
          <p:cNvSpPr/>
          <p:nvPr/>
        </p:nvSpPr>
        <p:spPr>
          <a:xfrm>
            <a:off x="4773168" y="3232934"/>
            <a:ext cx="164592" cy="104626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001768" y="3239568"/>
            <a:ext cx="164592" cy="97992"/>
          </a:xfrm>
          <a:prstGeom prst="rect">
            <a:avLst/>
          </a:prstGeom>
          <a:solidFill>
            <a:srgbClr val="2E75B6">
              <a:alpha val="6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5230368" y="3299013"/>
            <a:ext cx="164592" cy="38547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458968" y="3291596"/>
            <a:ext cx="164592" cy="45964"/>
          </a:xfrm>
          <a:prstGeom prst="rect">
            <a:avLst/>
          </a:prstGeom>
          <a:solidFill>
            <a:srgbClr val="2E75B6">
              <a:alpha val="5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687568" y="3280851"/>
            <a:ext cx="164592" cy="56709"/>
          </a:xfrm>
          <a:prstGeom prst="rect">
            <a:avLst/>
          </a:prstGeom>
          <a:solidFill>
            <a:srgbClr val="2E75B6">
              <a:alpha val="5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916168" y="3257014"/>
            <a:ext cx="164592" cy="80546"/>
          </a:xfrm>
          <a:prstGeom prst="rect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144768" y="3299013"/>
            <a:ext cx="164592" cy="38547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373368" y="3220911"/>
            <a:ext cx="164592" cy="116649"/>
          </a:xfrm>
          <a:prstGeom prst="rect">
            <a:avLst/>
          </a:prstGeom>
          <a:solidFill>
            <a:srgbClr val="2E75B6">
              <a:alpha val="35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4754880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sigs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39496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Opp:7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89788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Thr:3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858000" y="2944368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949440" y="297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955280" y="2971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Negative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949440" y="3200400"/>
            <a:ext cx="1828800" cy="137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7" name="Shape 85"/>
          <p:cNvSpPr/>
          <p:nvPr/>
        </p:nvSpPr>
        <p:spPr>
          <a:xfrm>
            <a:off x="6967728" y="3271678"/>
            <a:ext cx="164592" cy="65882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196328" y="3246282"/>
            <a:ext cx="164592" cy="91278"/>
          </a:xfrm>
          <a:prstGeom prst="rect">
            <a:avLst/>
          </a:prstGeom>
          <a:solidFill>
            <a:srgbClr val="2E75B6">
              <a:alpha val="6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424928" y="3269404"/>
            <a:ext cx="164592" cy="68156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653528" y="3273162"/>
            <a:ext cx="164592" cy="64398"/>
          </a:xfrm>
          <a:prstGeom prst="rect">
            <a:avLst/>
          </a:prstGeom>
          <a:solidFill>
            <a:srgbClr val="2E75B6">
              <a:alpha val="5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882128" y="3261686"/>
            <a:ext cx="164592" cy="75874"/>
          </a:xfrm>
          <a:prstGeom prst="rect">
            <a:avLst/>
          </a:prstGeom>
          <a:solidFill>
            <a:srgbClr val="2E75B6">
              <a:alpha val="5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110728" y="3245576"/>
            <a:ext cx="164592" cy="91984"/>
          </a:xfrm>
          <a:prstGeom prst="rect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339328" y="3302762"/>
            <a:ext cx="164592" cy="34798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567928" y="3272446"/>
            <a:ext cx="164592" cy="65114"/>
          </a:xfrm>
          <a:prstGeom prst="rect">
            <a:avLst/>
          </a:prstGeom>
          <a:solidFill>
            <a:srgbClr val="2E75B6">
              <a:alpha val="35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6949440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sigs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8952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Opp:4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8092440" y="33832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Thr:9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274320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VOLUME OVER TIME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64008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164592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265176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365760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466344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566928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667512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7680960" y="4709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868680" y="4526280"/>
            <a:ext cx="1005840" cy="-457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74520" y="4480560"/>
            <a:ext cx="1005840" cy="-457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880360" y="4434840"/>
            <a:ext cx="1005840" cy="-457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86200" y="4389120"/>
            <a:ext cx="1005840" cy="-73152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92040" y="4315968"/>
            <a:ext cx="1005840" cy="-64008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897880" y="4251960"/>
            <a:ext cx="1005840" cy="-9144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03720" y="4160520"/>
            <a:ext cx="1005840" cy="-457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68680" y="4434840"/>
            <a:ext cx="1005840" cy="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74520" y="4434840"/>
            <a:ext cx="1005840" cy="-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880360" y="4434840"/>
            <a:ext cx="1005840" cy="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86200" y="4434840"/>
            <a:ext cx="1005840" cy="-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92040" y="4434840"/>
            <a:ext cx="1005840" cy="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897880" y="4434840"/>
            <a:ext cx="1005840" cy="-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03720" y="4434840"/>
            <a:ext cx="1005840" cy="4572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58000" y="4023360"/>
            <a:ext cx="1828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3" name="Text 121"/>
          <p:cNvSpPr/>
          <p:nvPr/>
        </p:nvSpPr>
        <p:spPr>
          <a:xfrm>
            <a:off x="7086600" y="40050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7772400" y="4023360"/>
            <a:ext cx="1828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5" name="Text 123"/>
          <p:cNvSpPr/>
          <p:nvPr/>
        </p:nvSpPr>
        <p:spPr>
          <a:xfrm>
            <a:off x="8001000" y="40050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— Trends &amp; Strategic Intelligence (NEW — Most Important Section)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SPLIT: SCAN vs. EMAIL DELIVERY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operations — collect on demand, email when ready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and score signals from all sources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Range: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146304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03/01/2026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86000" y="2194560"/>
            <a:ext cx="146304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03/13/2026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2743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RSS/Web    ☑ Reddit    ☑ Google Trends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Incremental: No duplicates. Existing signals updated.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Scan Now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scan: Mar 12, 14:30 | 47 new | 12 updated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54880" y="10972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8792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70432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DIGEST EMAIL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93776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and send from existing signals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937760" y="1965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Date Range: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937760" y="2194560"/>
            <a:ext cx="146304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03/07/2026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583680" y="2194560"/>
            <a:ext cx="1463040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751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03/13/2026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37760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By: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937760" y="2743200"/>
            <a:ext cx="1645920" cy="2286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0" y="2743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BU: All  ▼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766560" y="2743200"/>
            <a:ext cx="1645920" cy="2286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58000" y="2743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Industry: All  ▼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93776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Score: [5.0]    Recipients: [Select ▼]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937760" y="3520440"/>
            <a:ext cx="1371600" cy="320040"/>
          </a:xfrm>
          <a:prstGeom prst="rect">
            <a:avLst/>
          </a:prstGeom>
          <a:solidFill>
            <a:srgbClr val="F4F6F9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93776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492240" y="3520440"/>
            <a:ext cx="1371600" cy="32004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41" name="Text 37"/>
          <p:cNvSpPr/>
          <p:nvPr/>
        </p:nvSpPr>
        <p:spPr>
          <a:xfrm>
            <a:off x="649224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Digest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937760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sent: Mar 10, 08:00 | 31 signals | 5 recipients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— Split Scan / Email Operations (NEW)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SMALLER ENHANCEMENTS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21945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FEED — LIKE BUTTON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ZeroAvia partners with Korean research institute...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8132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Micro-Measurements | Pacific Instruments | Force Sensors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640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Like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08760" y="1691640"/>
            <a:ext cx="1005840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6916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1691640"/>
            <a:ext cx="1097280" cy="201168"/>
          </a:xfrm>
          <a:prstGeom prst="rect">
            <a:avLst/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Handled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1965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NEW: Feedback improves future signal quality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Liked signals train the AI to prioritize similar content.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stored for scoring adjustments in V2.5.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3931920" cy="21945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MORE SPECIFIC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234440"/>
            <a:ext cx="356616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618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"Consider monitoring robotics trends for potential opportunities in Force Sensors."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1783080"/>
            <a:ext cx="3566160" cy="9144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8105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"Robotics signals up 73% over 3 weeks (12 signals, 4 companies). Figure AI expanded manufacturing — high-value prospect. ACTION: Create Force Sensors robotics app note. Target Figure AI procurement this week. Evidence: Signal #847, Score 8.2."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3756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FIX — CRITICAL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5800" y="3749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33 subreddits configured, 0 signals collected. Collection pipeline is not connecting to Reddit.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Steps: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Create Reddit app at reddit.com/prefs/apps (script type)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Add credentials to .env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Run diagnostic script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Test single subreddit collection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Add 'Test Collection' button to Reddit UI page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Fix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72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Unblock data collection — currently zero signals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417320"/>
            <a:ext cx="91440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54864" cy="155448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38528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938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Scan / Email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1396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on-demand collection with deduplication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1984248"/>
            <a:ext cx="914400" cy="274320"/>
          </a:xfrm>
          <a:prstGeom prst="rect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2350008"/>
            <a:ext cx="54864" cy="155448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05456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054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Overhaul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27066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business value — the strategic intelligence 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551176"/>
            <a:ext cx="914400" cy="274320"/>
          </a:xfrm>
          <a:prstGeom prst="rect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2916936"/>
            <a:ext cx="54864" cy="155448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072384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723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072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32735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heatmap, actionable insights, industry drill-down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3118104"/>
            <a:ext cx="914400" cy="274320"/>
          </a:xfrm>
          <a:prstGeom prst="rect">
            <a:avLst/>
          </a:prstGeom>
          <a:solidFill>
            <a:srgbClr val="E87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" y="3483864"/>
            <a:ext cx="54864" cy="155448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39312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393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3840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evidence, named companies, concrete actions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685032"/>
            <a:ext cx="91440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" y="4050792"/>
            <a:ext cx="54864" cy="155448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206240"/>
            <a:ext cx="457200" cy="41148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872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Button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88720" y="4407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add — feedback loop for quality improvement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4251960"/>
            <a:ext cx="914400" cy="27432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V2.4_Enhancement_Brief.md for full technical specifications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VPG Intelligence Platform V2.4 — Enhancement Mockups</dc:title>
  <dc:subject>PptxGenJS Presentation</dc:subject>
  <dc:creator>VPG Strategic Initiatives</dc:creator>
  <cp:lastModifiedBy>VPG Strategic Initiatives</cp:lastModifiedBy>
  <cp:revision>1</cp:revision>
  <dcterms:created xsi:type="dcterms:W3CDTF">2026-03-13T16:21:39Z</dcterms:created>
  <dcterms:modified xsi:type="dcterms:W3CDTF">2026-03-13T16:21:39Z</dcterms:modified>
</cp:coreProperties>
</file>